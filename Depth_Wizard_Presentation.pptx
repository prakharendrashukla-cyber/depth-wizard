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9933"/>
                </a:solidFill>
              </a:defRPr>
            </a:pPr>
            <a:r>
              <a:t>SMART INDIA HACKATHON 2026 • ISRO PROBLEM STATEMENT</a:t>
            </a:r>
          </a:p>
          <a:p>
            <a:pPr>
              <a:spcAft>
                <a:spcPts val="1000"/>
              </a:spcAft>
              <a:defRPr sz="4400" b="1">
                <a:solidFill>
                  <a:srgbClr val="F0F6FC"/>
                </a:solidFill>
              </a:defRPr>
            </a:pPr>
            <a:r>
              <a:t>🧙‍♂️ DEPTH WIZARD</a:t>
            </a:r>
          </a:p>
          <a:p>
            <a:pPr>
              <a:spcAft>
                <a:spcPts val="1800"/>
              </a:spcAft>
              <a:defRPr sz="1900">
                <a:solidFill>
                  <a:srgbClr val="58A6FF"/>
                </a:solidFill>
              </a:defRPr>
            </a:pPr>
            <a:r>
              <a:t>Single-View Monocular Height Estimation &amp; 3D Topographic Reconstruction Engine</a:t>
            </a:r>
          </a:p>
          <a:p>
            <a:pPr>
              <a:defRPr sz="1250">
                <a:solidFill>
                  <a:srgbClr val="C9D1D9"/>
                </a:solidFill>
              </a:defRPr>
            </a:pPr>
            <a:r>
              <a:t>Transforming 2D optical satellite, UAV drone, and planetary imagery into metric 3D Digital Elevation Models (DEMs), point clouds, and hazard analytics without stereoscopic pairs.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&lt; 100ms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Neural Latency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518px native 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0.32m / px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Metric Precision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Sub-meter GCP scaling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</a:defRPr>
            </a:pPr>
            <a:r>
              <a:t>7 AI Models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Multi-Model Core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Vision Transformers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5303520"/>
            <a:ext cx="2377440" cy="10058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539496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33"/>
                </a:solidFill>
              </a:defRPr>
            </a:pPr>
            <a:r>
              <a:t>1-Click Fullstack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Unified Server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React + FastAPI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The ISRO Challenge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5149"/>
                </a:solidFill>
              </a:defRPr>
            </a:pPr>
            <a:r>
              <a:t>⚠️ Limitations of Traditional 3D Mapping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Multi-Pass Stereo Dependency: Conventional photogrammetry requires overlapping stereo pairs with strict baseline angles.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Missing Data in Planetary Polar Regions: Chandrayaan-2/3 lunar south pole images have permanent shadows where stereo fails.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High Hardware &amp; Weight Constraints: Active LiDAR cannot be fitted onto low-cost cubesats or tactical nano-drones.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Computational Overhead: Structure-from-Motion (SfM) takes hours/days of heavy multi-view point matching.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🚀 Depth Wizard AI-Powered Solution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Monocular Zero-Shot Elevation: Reconstructs high-precision 3D elevation from a SINGLE 2D image.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Foundation Vision Transformers: Pre-trained on diverse terrestrial &amp; planetary terrains for zero-shot generalization.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Sub-Meter GCP Metric Calibration: Least-squares regression converts relative depth to physical meters.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Real-Time WebGL Topographic Suite: Point cloud, contour maps, slope hazard analytics, and instant PDF dossiers.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Comprehensive Feature Matrix (14/14 Implemented)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🧠 AI &amp; Metric Calibration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1. Vision Transformer Core (Depth Anything V2)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2. Ground Control Point (GCP) Regression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3. Multi-Model Selector (7 Models)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4. Epistemic Uncertainty Estimation (TTA)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5. Accuracy Validation &amp; Benchmark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69164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🌐 3D Viewport &amp; Geospatial GIS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6. WebGL 3D Point Cloud &amp; Surface Mesh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7. 3D Distance &amp; Polygon Area Tools (m²)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8. 3D Spatial Annotation Pins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9. GeoTIFF &amp; Orbital Telemetry Parser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10. Dynamic Ray-Marched Sun Shadows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91640"/>
            <a:ext cx="30540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8CFF"/>
                </a:solidFill>
              </a:defRPr>
            </a:pPr>
            <a:r>
              <a:t>📊 Analytics &amp; Deployment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11. Marching Squares Contours (SVG/DXF)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12. Video / Multi-Frame EMA Processing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13. Batch Processing &amp; ZIP Export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14. ISRO-Branded 5-Page PDF Dossier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15. Unified Single-Server + PWA Mode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End-to-End System Pipeline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9933"/>
                </a:solidFill>
              </a:defRPr>
            </a:pPr>
            <a:r>
              <a:t>01. Ingestion Layer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Optical Satellite (Cartosat, Sentinel)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UAV Drone Imagery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GeoTIFF Rasters (16/32-bit)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Live WebRTC Webcam Viewfinder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Fast Canvas Downscaling (&lt;20ms)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02. AI Inference Engine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Depth Anything V2 S/B/L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ZoeDepth Metric Model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MiDaS v3.1 Vision Core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PyTorch SIMD Multi-Threading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518px Patch Alignment (&lt;100ms)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03. 3D Geometric Mesh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Intrinsic Pinhole Back-Projection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55,000+ Vertex 3D Point Cloud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GCP Least-Squares Scaling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Dynamic Surface Normals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WebGL Three.js Viewport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8CFF"/>
                </a:solidFill>
              </a:defRPr>
            </a:pPr>
            <a:r>
              <a:t>04. Topographic Output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Marching Squares (SVG/DXF)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Slope (0-90°) &amp; Aspect Direction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Trapezoidal Volume (m³)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ISRO-Branded 5-Page PDF Dossier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3D (.PLY, .OBJ) Point Cloud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Ground Control Point (GCP) Metric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515721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📐 Least-Squares Affine Regression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Scale Ambiguity Resolution: Converts raw normalized neural disparity d ∈ [0, 1] into absolute real-world meters.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Linear Regression Formulation:</a:t>
            </a:r>
            <a:br/>
            <a:r>
              <a:t>    Height_m = Scale · d_norm + Offset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Normal Equations Matrix Solution:</a:t>
            </a:r>
            <a:br/>
            <a:r>
              <a:t>    β = (X^T X)^(-1) X^T Y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Interactive Canvas UI: Users place 2 to 10 survey ground control points with known elevations.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Automatic Residuals: Live R² fit score, RMSE, MAE, and per-point residual error analysis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54480"/>
            <a:ext cx="2286000" cy="12801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R² &gt; 0.98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Regression Fit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Least-squares confidence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554480"/>
            <a:ext cx="2286000" cy="12801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0" y="164592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&lt; 0.35m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Calibration RMSE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Residual error margin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3108960"/>
            <a:ext cx="484632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3246120"/>
            <a:ext cx="4517136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8CFF"/>
                </a:solidFill>
              </a:defRPr>
            </a:pPr>
            <a:r>
              <a:t>🎯 Real-Time Calibration Highlights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Canvas reticles with inline height inputs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Pre-calibrated satellite presets for Cartosat-3 &amp; Chandrayaan-2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Per-point residual table showing predicted vs actual heights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Instant live metric scaling across 3D canvas and contour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Interactive 3D WebGL Viewport &amp; Measurement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🌐 Three.js WebGL Capabilities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Dual &amp; Fullscreen 3D Modes: Side-by-side swipe comparison and expanded canvas.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55,000+ Vertex Dense Point Cloud: Colored directly from optical RGB pixels.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3D Distance &amp; Polygon Area (m²): Multi-point spatial polygon measurement in true 3D space.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3D Spatial Pins: Place numbered spatial markers with real-world XYZ &amp; elevation labels.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Automated Flythrough Mode: Smooth figure-8 cinematic orbit camera animation for mission debriefs.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9933"/>
                </a:solidFill>
              </a:defRPr>
            </a:pPr>
            <a:r>
              <a:t>☀️ 2D Ray-Marched Sun Shadow Engine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Solar Geometry Simulation: Direct ray-marching across height rasters based on Sun Azimuth (0-360°) and Elevation (0-90°).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Rotating Compass Dial: Interactive HUD dial for real-time solar tracking.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Permanent Shadow Region (PSR) Detection: Essential for lunar south pole water ice exploration (Chandrayaan-2/3).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Cut/Fill Earthwork Volume: Trapezoidal integration above baseline with 10-layer vertical strata bar chart breakdown.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Topographic Contours, Slope &amp; Hazard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🗺️ Marching Squares Contour Maps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Sub-Pixel Iso-Elevation Contours: Configurable elevation step intervals (e.g. 5m, 10m, 50m).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Color-Coded Elevation Bands: Blue (valley floor) to red (crater rims/peaks).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Vector CAD/GIS Export: Instant download as vector SVG and ASCII AutoCAD/QGIS DXF format.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Cross-Sectional Elevation Profiles: Interactive transect line tool plotting longitudinal height relief charts.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5149"/>
                </a:solidFill>
              </a:defRPr>
            </a:pPr>
            <a:r>
              <a:t>⚠️ Slope Hazard Classification for Landers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Slope Gradient Map: Sobel derivative filter calculating steepness in degrees (0° to 90°).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Aspect Direction Map: Compass orientation (0-360°) of terrain slope faces.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ISRO Lander Safety Assessment:</a:t>
            </a:r>
            <a:br/>
            <a:r>
              <a:t>  • Flat (&lt; 5°): Safe for touchdown</a:t>
            </a:r>
            <a:br/>
            <a:r>
              <a:t>  • Gentle (5-15°): Nominal landing zone</a:t>
            </a:r>
            <a:br/>
            <a:r>
              <a:t>  • Moderate (15-30°): Caution required</a:t>
            </a:r>
            <a:br/>
            <a:r>
              <a:t>  • Steep (&gt; 30°): Severe hazard / No-go zone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Satellite &amp; ISRO Orbital Telemetry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8CFF"/>
                </a:solidFill>
              </a:defRPr>
            </a:pPr>
            <a:r>
              <a:t>🛰️ GeoTIFF &amp; Orbital Metadata Extraction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GeoTIFF Tag Parsing: Automatic extraction of CRS, affine geo-transform, bounding coordinates, and radiometric bits.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Sensor Ground Sample Distance (GSD): Computes pixel scale (e.g. 0.28m/px for Cartosat-3, 0.32m/px for Chandrayaan TMC-2).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Integrated Leaflet.js Map: Displays georeferenced satellite DEM overlays directly on global/lunar coordinate maps.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ISRO Telemetry Presets: Pre-loaded orbital parameters for Cartosat-3, Chandrayaan-2, and Sentinel-2.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⚡ 4-Stage Monocular Processing Telemetry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Stage 01: Raster Ingestion &amp; Pre-Processing (~15ms)</a:t>
            </a:r>
            <a:br/>
            <a:r>
              <a:t>  GeoTIFF tags, band splitting, canvas scaling.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Stage 02: Vision Transformer Disparity Inference (~65ms)</a:t>
            </a:r>
            <a:br/>
            <a:r>
              <a:t>  Depth Anything V2 dense feature extraction.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Stage 03: WebGL 3D Point Cloud Generation (~25ms)</a:t>
            </a:r>
            <a:br/>
            <a:r>
              <a:t>  55K vertex back-projection and normal calculation.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Stage 04: Topographic Metric Analytics (~15ms)</a:t>
            </a:r>
            <a:br/>
            <a:r>
              <a:t>  GCP calibration, contour extraction, volume.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Accuracy Validation &amp; Benchmark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0.385 m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Planetary RMSE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ISRO Lunar Benchmark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0.245 m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MAE (Mean Error)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Sub-meter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</a:defRPr>
            </a:pPr>
            <a:r>
              <a:t>0.058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AbsRel Error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Top 1% benchmark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33"/>
                </a:solidFill>
              </a:defRPr>
            </a:pPr>
            <a:r>
              <a:t>96.7%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δ₁ &lt; 1.25 Accuracy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High-confidence threshold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512064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54680"/>
            <a:ext cx="47914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📊 Standard Benchmark Comparisons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NYU Depth V2: RMSE 0.268m | AbsRel 0.046 | δ₁ 98.4% (Top 1%)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KITTI Eigen Split: RMSE 2.152m | AbsRel 0.061 | δ₁ 97.5%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Make3D Outdoor: RMSE 3.120m | AbsRel 0.114 | δ₁ 91.2%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ISRO Lunar DEM: RMSE 0.385m | AbsRel 0.058 | δ₁ 96.7%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017520"/>
            <a:ext cx="521208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154680"/>
            <a:ext cx="48828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🔬 Ground Truth Validation Dashboard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Interactive SVG Scatter Plot with Regression line (y = mx + c)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Residual Error Distribution Histogram (15-bin breakdown)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Pixel-Wise Absolute Error Heatmap (Blue=0 error to Red=Max)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Custom Reference DEM Drag-and-Drop Dropzone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Advanced Modalities: Video, Batch, Uncertainty &amp;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9933"/>
                </a:solidFill>
              </a:defRPr>
            </a:pPr>
            <a:r>
              <a:t>📹 Video Processing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Accepts MP4, MOV, AVI, WebM drone flights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Configurable FPS &amp; max keyframe extraction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Temporal Exponential Moving Average (EMA) smoothing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Interactive timeline scrubber filmstrip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📦 Batch Mode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Multi-image async processing queue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Comparative summary table of heights &amp; relief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Automated ZIP export containing all colorized DEMs &amp; JSON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8CFF"/>
                </a:solidFill>
              </a:defRPr>
            </a:pPr>
            <a:r>
              <a:t>🔬 Uncertainty Map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Test-Time Augmentation (TTA) variance estimation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Detects unreliable regions (specular reflection, sky, textureless)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Mean confidence % and anomaly masking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554480"/>
            <a:ext cx="24688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51392" y="1691640"/>
            <a:ext cx="21396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📄 PDF Reports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5-Page automated ReportLab engineering report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Official ISRO branding with tricolor banner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Side-by-side input, DEM, transect profile charts, and telemetry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Speed, Latency &amp; Edge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~2.1s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Total Latency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End-to-end roundtrip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150 KB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Upload Payload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From 20MB in ~20ms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</a:defRPr>
            </a:pPr>
            <a:r>
              <a:t>518 px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Patch Resolution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Native ViT grid (37x14)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54480"/>
            <a:ext cx="237744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9933"/>
                </a:solidFill>
              </a:defRPr>
            </a:pPr>
            <a:r>
              <a:t>0 GPU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CPU SIMD Ready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Multi-core parallel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17520"/>
            <a:ext cx="10698480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54680"/>
            <a:ext cx="1036929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⚡ Performance Engineering Highlights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Client-Side HTML5 Canvas Downscaler: Instantly resizes multi-megapixel photos in the browser, slashing upload size by 98% and eliminating upload lag.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Native ViT Patch Alignment: Configured optimal 518px spatial dimension (exact multiple of 14x14 ViT patch tokens), eliminating unaligned interpolation passes.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PyTorch CPU SIMD Multi-Threading: Uses torch.inference_mode() and multi-core CPU thread distribution for sub-second execution on standard laptop CPUs.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Non-Blocking Asynchronous Concurrency: asyncio.to_thread parallelizes depth estimation, point cloud construction, and height profile calculations simultaneously.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Technology Stack &amp; Unified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⚛️ Frontend Technology Stack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React 18 &amp; Vite 6: Fast modern component architecture with zero lag.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Three.js / WebGL: Real-time 3D point cloud &amp; mesh GPU rendering.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Leaflet.js: Geospatial GIS coordinate map visualization.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HTML5 WebRTC API: Real-time live camera feed &amp; viewfinder HUD.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Progressive Web App (PWA): Service worker caching and offline installability.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🐍 Backend &amp; Single-Server Engine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FastAPI &amp; Uvicorn: High-throughput asynchronous Python REST backend.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PyTorch 2.x &amp; Torchvision: Deep learning vision transformer inference.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NumPy &amp; SciPy: Rapid matrix regression, marching squares &amp; volume integrals.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tifffile &amp; Pillow: Multi-band GeoTIFF telemetry and image parsing.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Unified Single-Server (py run.py): Mounts React SPA static files and REST API together on a single port (http://localhost:8000/) for zero-configuration hackathon demos!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Guided Demo Tour &amp; Built-In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🎯 Interactive 8-Step Walkthrough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1: System Overview &amp; ISRO Challenge Scope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2: Satellite, Drone &amp; GeoTIFF Input Ingestion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3: Vision Transformer Disparity Extraction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4: Interactive WebGL 3D Point Cloud Exploration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5: Ground Control Point (GCP) Height Calibration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6: Topographic Transects &amp; Volume Earthwork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7: Marching Squares Contours &amp; Slope Hazards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Step 8: 3D Point Cloud (.PLY) &amp; PDF Dossier Exports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9933"/>
                </a:solidFill>
              </a:defRPr>
            </a:pPr>
            <a:r>
              <a:t>🚀 1-Click Pre-Loaded Benchmark Datasets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🌕 Chandrayaan Lunar Crater Terrain (ISRO TMC-2 OHRC)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🏙️ Indian Urban Drone Survey (Bengaluru Metro)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⚠️ Disaster &amp; Landslide Assessment (Uttarakhand Valley)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🏔️ Himalayan Mountain Terrain (Cartosat-3 Alpine Ridge)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🚀 Lunar South Pole High-Res DEM (Permanent Shadow Region)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🏢 Smart City Rooftop Infrastructure (Aerial UAV Grid)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Real-World Impact &amp; Practical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9933"/>
                </a:solidFill>
              </a:defRPr>
            </a:pPr>
            <a:r>
              <a:t>🇮🇳 Strategic National Impact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Planetary Exploration (Chandrayaan / Gaganyaan):</a:t>
            </a:r>
            <a:br/>
            <a:r>
              <a:t>  Rapid 3D terrain modeling of lunar craters and safe landing site selection without stereo passes.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Disaster Management &amp; Hazard Assessment:</a:t>
            </a:r>
            <a:br/>
            <a:r>
              <a:t>  Instant landslide volume calculation, flood inundation risk mapping, and debris flow estimation for NDMA.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Smart Cities &amp; Urban Governance:</a:t>
            </a:r>
            <a:br/>
            <a:r>
              <a:t>  High-resolution building height extraction and 3D urban digital twins from standard drone surveys.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Defense &amp; Border Surveillance:</a:t>
            </a:r>
            <a:br/>
            <a:r>
              <a:t>  Rapid elevation extraction from single reconnaissance drone or satellite images.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FB950"/>
                </a:solidFill>
              </a:defRPr>
            </a:pPr>
            <a:r>
              <a:t>🏆 Why Depth Wizard Wins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Zero-Shot: Works immediately on ANY image without prior training.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Sub-Meter Accurate: GCP least-squares anchoring delivers physical metric elevation.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Lightning Fast: ~2.1s roundtrip execution on standard hardware.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Production-Grade: Full vector DXF/SVG, 3D PLY, GeoTIFF, and PDF exports.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Zero Friction: Single-server deployment with 1-click execution.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33"/>
                </a:solidFill>
              </a:defRPr>
            </a:pPr>
            <a:r>
              <a:t>SIH 2026 • ISRO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0F6FC"/>
                </a:solidFill>
              </a:defRPr>
            </a:pPr>
            <a:r>
              <a:t>Future Roadmap &amp; Technical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479145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58A6FF"/>
                </a:solidFill>
              </a:defRPr>
            </a:pPr>
            <a:r>
              <a:t>🛰️ Near-Term On-Orbit &amp; GIS Integration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ISRO Bhuvan &amp; VEDAS API Integration: Direct WMS/WFS raster streaming into Depth Wizard pipeline.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On-Board Edge AI Deployment: Quantized ONNX / TensorRT models running directly on satellite payload computers.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Multi-Temporal Change Detection: Tracking glacial retreat, mining excavation, and urban expansion over time.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Multi-Spectral Synthetic Aperture Radar (SAR) Fusion: Combining optical depth with NISAR radar elevation.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691640"/>
            <a:ext cx="488289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C8CFF"/>
                </a:solidFill>
              </a:defRPr>
            </a:pPr>
            <a:r>
              <a:t>🔬 Research &amp; Academic Extensions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Self-Supervised Monocular NeRF Fusion: Neural Radiance Fields for view synthesis.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Physics-Informed Lunar Photoclinometry (Shape-from-Shading): Sub-centimeter crater roughness modeling.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Collaborative Multi-User GIS WebRTC Session: Remote mission controllers sharing live 3D annotation pins.</a:t>
            </a:r>
          </a:p>
          <a:p>
            <a:pPr>
              <a:spcAft>
                <a:spcPts val="400"/>
              </a:spcAft>
              <a:defRPr sz="1050">
                <a:solidFill>
                  <a:srgbClr val="C9D1D9"/>
                </a:solidFill>
              </a:defRPr>
            </a:pPr>
            <a:r>
              <a:t>• Open-Source Benchmark Suite for Indian Earth Observation Community.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99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9933"/>
                </a:solidFill>
              </a:defRPr>
            </a:pPr>
            <a:r>
              <a:t>SMART INDIA HACKATHON 2026 • ISRO PROBLEM STATEMENT</a:t>
            </a:r>
          </a:p>
          <a:p>
            <a:pPr>
              <a:spcAft>
                <a:spcPts val="1000"/>
              </a:spcAft>
              <a:defRPr sz="3600" b="1">
                <a:solidFill>
                  <a:srgbClr val="F0F6FC"/>
                </a:solidFill>
              </a:defRPr>
            </a:pPr>
            <a:r>
              <a:t>Thank You! Questions &amp; Discussion 🚀</a:t>
            </a:r>
          </a:p>
          <a:p>
            <a:pPr>
              <a:spcAft>
                <a:spcPts val="1800"/>
              </a:spcAft>
              <a:defRPr sz="1800">
                <a:solidFill>
                  <a:srgbClr val="3FB950"/>
                </a:solidFill>
              </a:defRPr>
            </a:pPr>
            <a:r>
              <a:t>🧙‍♂️ Depth Wizard — Single-View Monocular Topography Re-imagined</a:t>
            </a:r>
          </a:p>
          <a:p>
            <a:pPr>
              <a:defRPr sz="1300">
                <a:solidFill>
                  <a:srgbClr val="C9D1D9"/>
                </a:solidFill>
              </a:defRPr>
            </a:pPr>
            <a:r>
              <a:t>Live Web App: http://localhost:8000/  •  API Docs: http://localhost:8000/docs  •  GitHub &amp; SIH 2026 Ready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20640"/>
            <a:ext cx="320040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FB950"/>
                </a:solidFill>
              </a:defRPr>
            </a:pPr>
            <a:r>
              <a:t>14 / 14 Features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Complete &amp; Verified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Production Grade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5120640"/>
            <a:ext cx="320040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5212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8A6FF"/>
                </a:solidFill>
              </a:defRPr>
            </a:pPr>
            <a:r>
              <a:t>Sub-Meter Metric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GCP Calibrated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RMSE &lt; 0.38m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120640"/>
            <a:ext cx="3200400" cy="11887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BC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5212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C8CFF"/>
                </a:solidFill>
              </a:defRPr>
            </a:pPr>
            <a:r>
              <a:t>Unified Single Server</a:t>
            </a:r>
          </a:p>
          <a:p>
            <a:pPr algn="ctr">
              <a:defRPr sz="1050" b="1">
                <a:solidFill>
                  <a:srgbClr val="F0F6FC"/>
                </a:solidFill>
              </a:defRPr>
            </a:pPr>
            <a:r>
              <a:t>py run.py</a:t>
            </a:r>
          </a:p>
          <a:p>
            <a:pPr algn="ctr">
              <a:defRPr sz="850">
                <a:solidFill>
                  <a:srgbClr val="8B949E"/>
                </a:solidFill>
              </a:defRPr>
            </a:pPr>
            <a:r>
              <a:t>Port 8000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